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5"/>
    <p:sldId id="265" r:id="rId16"/>
    <p:sldId id="266" r:id="rId1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1ccb89e-8b57-9b94-abe5-72ad4742cf85}">
          <p14:sldIdLst>
            <p14:sldId id="256"/>
            <p14:sldId id="257"/>
          </p14:sldIdLst>
        </p14:section>
        <p14:section name="Services" id="{d2a0ca40-8792-2a90-a673-e11b84e7e579}">
          <p14:sldIdLst>
            <p14:sldId id="258"/>
            <p14:sldId id="259"/>
          </p14:sldIdLst>
        </p14:section>
        <p14:section name="Design" id="{019a4ea0-e55e-7d61-b8ea-b10c3cff998f}">
          <p14:sldIdLst>
            <p14:sldId id="260"/>
            <p14:sldId id="261"/>
            <p14:sldId id="262"/>
          </p14:sldIdLst>
        </p14:section>
        <p14:section name="Close" id="{44a8f5cb-dabd-fd33-fe8c-fc50f1eb6a9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overview: we connect Claude Code to online services through their official MCP servers, download the data into documented local files, and search all of it from one small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is three steps. Connecting happens once per service. Downloading is repeatable through skills. Searching is fully local, so it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 and GitHub are the required services; Linear is my extra service and replaced Google Calendar. All three are exported: 17 Notion pages, 11 GitHub repos, issues and PRs, and 9 Linear issues with comments. All data is fictional test data for the Project Apollo scenario. If asked: Gmail was skipped with the professor's approval because Google's Gmail MCP server is a developer preview that does not accept test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service plugs into the same pipeline. The skills are read-only. Only the save script writes to disk, so every file follows the spec. The dashboard discovers service folders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come from the item itself plus a short hash of its id, so the same item always lands at the same path. Every record shares a common envelope, which is all the dashboard needs to list and search items from any service. Full details are in localStorageFormats.md.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Sarah Kim: 21 results from Notion meeting notes, GitHub issues and Linear issues together, each labeled with its source. Filter chips narrow to one service, the detail pane shows comments, and every result links back to the original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password, token or client secret is committed. Each service is self-contained, so a teammate can add their own extra service in four steps without touching Notion or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the exported data and this deck are in the GitHub repository. Happy to take questions or show the dashboard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original Notion page in the test workspace. Right: the same page in the dashboard after downloading, with its date, people, topics and follow-ups, tagged NOTION.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original GitHub issue in the public test repo. Right: the same issue in the dashboard, with its labels, state, author and comment, tagged GITHUB.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original Linear issue in the test workspace. Right: the same issue in the dashboard, with its status, priority and comment, tagged LINEAR.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lgn="l">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lgn="l">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Third-Party Services Dashboard</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Claude Code + official MCP servers → local files → one search</a:t>
            </a:r>
            <a:endParaRPr lang="en-US" sz="1800" dirty="0"/>
          </a:p>
          <a:p>
            <a:pPr indent="0" marL="0">
              <a:buNone/>
            </a:pPr>
            <a:r>
              <a:rPr lang="en-US" sz="1800" dirty="0">
                <a:solidFill>
                  <a:schemeClr val="accent4"/>
                </a:solidFill>
              </a:rPr>
              <a:t>Nadav Ohayon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From cloud service to one search box</a:t>
            </a:r>
            <a:endParaRPr lang="en-US" sz="3000" dirty="0"/>
          </a:p>
        </p:txBody>
      </p:sp>
      <p:sp>
        <p:nvSpPr>
          <p:cNvPr id="3" name="Shape 1"/>
          <p:cNvSpPr/>
          <p:nvPr/>
        </p:nvSpPr>
        <p:spPr>
          <a:xfrm>
            <a:off x="457200" y="1280160"/>
            <a:ext cx="2560320" cy="3200400"/>
          </a:xfrm>
          <a:prstGeom prst="roundRect">
            <a:avLst>
              <a:gd name="adj" fmla="val 4286"/>
            </a:avLst>
          </a:prstGeom>
          <a:solidFill>
            <a:schemeClr val="bg2"/>
          </a:solidFill>
          <a:ln/>
        </p:spPr>
      </p:sp>
      <p:sp>
        <p:nvSpPr>
          <p:cNvPr id="4" name="Shape 2"/>
          <p:cNvSpPr/>
          <p:nvPr/>
        </p:nvSpPr>
        <p:spPr>
          <a:xfrm>
            <a:off x="731520" y="1508760"/>
            <a:ext cx="640080" cy="640080"/>
          </a:xfrm>
          <a:prstGeom prst="ellipse">
            <a:avLst/>
          </a:prstGeom>
          <a:solidFill>
            <a:schemeClr val="accent1"/>
          </a:solidFill>
          <a:ln/>
        </p:spPr>
      </p:sp>
      <p:sp>
        <p:nvSpPr>
          <p:cNvPr id="5" name="Text 3"/>
          <p:cNvSpPr txBox="1"/>
          <p:nvPr/>
        </p:nvSpPr>
        <p:spPr>
          <a:xfrm>
            <a:off x="73152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3152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Connect</a:t>
            </a:r>
            <a:endParaRPr lang="en-US" sz="2000" dirty="0"/>
          </a:p>
        </p:txBody>
      </p:sp>
      <p:sp>
        <p:nvSpPr>
          <p:cNvPr id="7" name="Text 5"/>
          <p:cNvSpPr txBox="1"/>
          <p:nvPr/>
        </p:nvSpPr>
        <p:spPr>
          <a:xfrm>
            <a:off x="73152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Each service is added to Claude Code as an official MCP server in .mcp.json, authorized with OAuth or a token from an environment variable.</a:t>
            </a:r>
            <a:endParaRPr lang="en-US" sz="1400" dirty="0"/>
          </a:p>
        </p:txBody>
      </p:sp>
      <p:sp>
        <p:nvSpPr>
          <p:cNvPr id="8" name="Shape 6"/>
          <p:cNvSpPr/>
          <p:nvPr/>
        </p:nvSpPr>
        <p:spPr>
          <a:xfrm>
            <a:off x="3291840" y="1280160"/>
            <a:ext cx="2560320" cy="3200400"/>
          </a:xfrm>
          <a:prstGeom prst="roundRect">
            <a:avLst>
              <a:gd name="adj" fmla="val 4286"/>
            </a:avLst>
          </a:prstGeom>
          <a:solidFill>
            <a:schemeClr val="bg2"/>
          </a:solidFill>
          <a:ln/>
        </p:spPr>
      </p:sp>
      <p:sp>
        <p:nvSpPr>
          <p:cNvPr id="9" name="Shape 7"/>
          <p:cNvSpPr/>
          <p:nvPr/>
        </p:nvSpPr>
        <p:spPr>
          <a:xfrm>
            <a:off x="3566160" y="1508760"/>
            <a:ext cx="640080" cy="640080"/>
          </a:xfrm>
          <a:prstGeom prst="ellipse">
            <a:avLst/>
          </a:prstGeom>
          <a:solidFill>
            <a:schemeClr val="accent1"/>
          </a:solidFill>
          <a:ln/>
        </p:spPr>
      </p:sp>
      <p:sp>
        <p:nvSpPr>
          <p:cNvPr id="10" name="Text 8"/>
          <p:cNvSpPr txBox="1"/>
          <p:nvPr/>
        </p:nvSpPr>
        <p:spPr>
          <a:xfrm>
            <a:off x="356616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56616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Download</a:t>
            </a:r>
            <a:endParaRPr lang="en-US" sz="2000" dirty="0"/>
          </a:p>
        </p:txBody>
      </p:sp>
      <p:sp>
        <p:nvSpPr>
          <p:cNvPr id="12" name="Text 10"/>
          <p:cNvSpPr txBox="1"/>
          <p:nvPr/>
        </p:nvSpPr>
        <p:spPr>
          <a:xfrm>
            <a:off x="356616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Ask in plain words ("download all my GitHub issues"). A skill fetches the data and saves it with tools/save_export.py.</a:t>
            </a:r>
            <a:endParaRPr lang="en-US" sz="1400" dirty="0"/>
          </a:p>
        </p:txBody>
      </p:sp>
      <p:sp>
        <p:nvSpPr>
          <p:cNvPr id="13" name="Shape 11"/>
          <p:cNvSpPr/>
          <p:nvPr/>
        </p:nvSpPr>
        <p:spPr>
          <a:xfrm>
            <a:off x="6126480" y="1280160"/>
            <a:ext cx="2560320" cy="3200400"/>
          </a:xfrm>
          <a:prstGeom prst="roundRect">
            <a:avLst>
              <a:gd name="adj" fmla="val 4286"/>
            </a:avLst>
          </a:prstGeom>
          <a:solidFill>
            <a:schemeClr val="bg2"/>
          </a:solidFill>
          <a:ln/>
        </p:spPr>
      </p:sp>
      <p:sp>
        <p:nvSpPr>
          <p:cNvPr id="14" name="Shape 12"/>
          <p:cNvSpPr/>
          <p:nvPr/>
        </p:nvSpPr>
        <p:spPr>
          <a:xfrm>
            <a:off x="6400800" y="1508760"/>
            <a:ext cx="640080" cy="640080"/>
          </a:xfrm>
          <a:prstGeom prst="ellipse">
            <a:avLst/>
          </a:prstGeom>
          <a:solidFill>
            <a:schemeClr val="accent2"/>
          </a:solidFill>
          <a:ln/>
        </p:spPr>
      </p:sp>
      <p:sp>
        <p:nvSpPr>
          <p:cNvPr id="15" name="Text 13"/>
          <p:cNvSpPr txBox="1"/>
          <p:nvPr/>
        </p:nvSpPr>
        <p:spPr>
          <a:xfrm>
            <a:off x="640080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Text 14"/>
          <p:cNvSpPr txBox="1"/>
          <p:nvPr/>
        </p:nvSpPr>
        <p:spPr>
          <a:xfrm>
            <a:off x="640080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Search</a:t>
            </a:r>
            <a:endParaRPr lang="en-US" sz="2000" dirty="0"/>
          </a:p>
        </p:txBody>
      </p:sp>
      <p:sp>
        <p:nvSpPr>
          <p:cNvPr id="17" name="Text 15"/>
          <p:cNvSpPr txBox="1"/>
          <p:nvPr/>
        </p:nvSpPr>
        <p:spPr>
          <a:xfrm>
            <a:off x="640080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The local dashboard reads dataExports/ and searches one service or all of them at once.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Three services, one search</a:t>
            </a:r>
            <a:endParaRPr lang="en-US" sz="3000" dirty="0"/>
          </a:p>
        </p:txBody>
      </p:sp>
      <p:sp>
        <p:nvSpPr>
          <p:cNvPr id="3" name="Shape 1"/>
          <p:cNvSpPr/>
          <p:nvPr/>
        </p:nvSpPr>
        <p:spPr>
          <a:xfrm>
            <a:off x="457200" y="1280160"/>
            <a:ext cx="2560320" cy="3200400"/>
          </a:xfrm>
          <a:prstGeom prst="roundRect">
            <a:avLst>
              <a:gd name="adj" fmla="val 5714"/>
            </a:avLst>
          </a:prstGeom>
          <a:solidFill>
            <a:schemeClr val="bg2"/>
          </a:solidFill>
          <a:ln/>
        </p:spPr>
      </p:sp>
      <p:sp>
        <p:nvSpPr>
          <p:cNvPr id="4" name="Text 2"/>
          <p:cNvSpPr txBox="1"/>
          <p:nvPr/>
        </p:nvSpPr>
        <p:spPr>
          <a:xfrm>
            <a:off x="640080" y="1463040"/>
            <a:ext cx="21945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Notion</a:t>
            </a:r>
            <a:endParaRPr lang="en-US" sz="2000" dirty="0"/>
          </a:p>
        </p:txBody>
      </p:sp>
      <p:sp>
        <p:nvSpPr>
          <p:cNvPr id="5" name="Text 3"/>
          <p:cNvSpPr txBox="1"/>
          <p:nvPr/>
        </p:nvSpPr>
        <p:spPr>
          <a:xfrm>
            <a:off x="640080" y="1874520"/>
            <a:ext cx="219456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6" name="Text 4"/>
          <p:cNvSpPr txBox="1"/>
          <p:nvPr/>
        </p:nvSpPr>
        <p:spPr>
          <a:xfrm>
            <a:off x="640080" y="2514600"/>
            <a:ext cx="2194560" cy="822960"/>
          </a:xfrm>
          <a:prstGeom prst="rect">
            <a:avLst/>
          </a:prstGeom>
          <a:noFill/>
          <a:ln/>
        </p:spPr>
        <p:txBody>
          <a:bodyPr wrap="square" lIns="0" tIns="0" rIns="0" bIns="0" rtlCol="0" anchor="ctr"/>
          <a:lstStyle/>
          <a:p>
            <a:pPr indent="0" marL="0">
              <a:buNone/>
            </a:pPr>
            <a:r>
              <a:rPr lang="en-US" sz="4800" b="1" dirty="0">
                <a:solidFill>
                  <a:schemeClr val="accent1"/>
                </a:solidFill>
              </a:rPr>
              <a:t>17</a:t>
            </a:r>
            <a:endParaRPr lang="en-US" sz="4800" dirty="0"/>
          </a:p>
        </p:txBody>
      </p:sp>
      <p:sp>
        <p:nvSpPr>
          <p:cNvPr id="7" name="Text 5"/>
          <p:cNvSpPr txBox="1"/>
          <p:nvPr/>
        </p:nvSpPr>
        <p:spPr>
          <a:xfrm>
            <a:off x="640080" y="3383280"/>
            <a:ext cx="2194560" cy="914400"/>
          </a:xfrm>
          <a:prstGeom prst="rect">
            <a:avLst/>
          </a:prstGeom>
          <a:noFill/>
          <a:ln/>
        </p:spPr>
        <p:txBody>
          <a:bodyPr wrap="square" lIns="0" tIns="0" rIns="0" bIns="0" rtlCol="0" anchor="t"/>
          <a:lstStyle/>
          <a:p>
            <a:pPr indent="0" marL="0">
              <a:buNone/>
            </a:pPr>
            <a:r>
              <a:rPr lang="en-US" sz="1300" dirty="0">
                <a:solidFill>
                  <a:schemeClr val="tx2"/>
                </a:solidFill>
              </a:rPr>
              <a:t>pages downloaded</a:t>
            </a:r>
            <a:endParaRPr lang="en-US" sz="1300" dirty="0"/>
          </a:p>
        </p:txBody>
      </p:sp>
      <p:sp>
        <p:nvSpPr>
          <p:cNvPr id="8" name="Shape 6"/>
          <p:cNvSpPr/>
          <p:nvPr/>
        </p:nvSpPr>
        <p:spPr>
          <a:xfrm>
            <a:off x="3291840" y="1280160"/>
            <a:ext cx="2560320" cy="3200400"/>
          </a:xfrm>
          <a:prstGeom prst="roundRect">
            <a:avLst>
              <a:gd name="adj" fmla="val 5714"/>
            </a:avLst>
          </a:prstGeom>
          <a:solidFill>
            <a:schemeClr val="bg2"/>
          </a:solidFill>
          <a:ln/>
        </p:spPr>
      </p:sp>
      <p:sp>
        <p:nvSpPr>
          <p:cNvPr id="9" name="Text 7"/>
          <p:cNvSpPr txBox="1"/>
          <p:nvPr/>
        </p:nvSpPr>
        <p:spPr>
          <a:xfrm>
            <a:off x="3474720" y="1463040"/>
            <a:ext cx="21945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GitHub</a:t>
            </a:r>
            <a:endParaRPr lang="en-US" sz="2000" dirty="0"/>
          </a:p>
        </p:txBody>
      </p:sp>
      <p:sp>
        <p:nvSpPr>
          <p:cNvPr id="10" name="Text 8"/>
          <p:cNvSpPr txBox="1"/>
          <p:nvPr/>
        </p:nvSpPr>
        <p:spPr>
          <a:xfrm>
            <a:off x="3474720" y="1874520"/>
            <a:ext cx="219456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11" name="Text 9"/>
          <p:cNvSpPr txBox="1"/>
          <p:nvPr/>
        </p:nvSpPr>
        <p:spPr>
          <a:xfrm>
            <a:off x="3474720" y="2514600"/>
            <a:ext cx="2194560" cy="822960"/>
          </a:xfrm>
          <a:prstGeom prst="rect">
            <a:avLst/>
          </a:prstGeom>
          <a:noFill/>
          <a:ln/>
        </p:spPr>
        <p:txBody>
          <a:bodyPr wrap="square" lIns="0" tIns="0" rIns="0" bIns="0" rtlCol="0" anchor="ctr"/>
          <a:lstStyle/>
          <a:p>
            <a:pPr indent="0" marL="0">
              <a:buNone/>
            </a:pPr>
            <a:r>
              <a:rPr lang="en-US" sz="4800" b="1" dirty="0">
                <a:solidFill>
                  <a:schemeClr val="accent1"/>
                </a:solidFill>
              </a:rPr>
              <a:t>11</a:t>
            </a:r>
            <a:endParaRPr lang="en-US" sz="4800" dirty="0"/>
          </a:p>
        </p:txBody>
      </p:sp>
      <p:sp>
        <p:nvSpPr>
          <p:cNvPr id="12" name="Text 10"/>
          <p:cNvSpPr txBox="1"/>
          <p:nvPr/>
        </p:nvSpPr>
        <p:spPr>
          <a:xfrm>
            <a:off x="3474720" y="3383280"/>
            <a:ext cx="2194560" cy="914400"/>
          </a:xfrm>
          <a:prstGeom prst="rect">
            <a:avLst/>
          </a:prstGeom>
          <a:noFill/>
          <a:ln/>
        </p:spPr>
        <p:txBody>
          <a:bodyPr wrap="square" lIns="0" tIns="0" rIns="0" bIns="0" rtlCol="0" anchor="t"/>
          <a:lstStyle/>
          <a:p>
            <a:pPr indent="0" marL="0">
              <a:buNone/>
            </a:pPr>
            <a:r>
              <a:rPr lang="en-US" sz="1300" dirty="0">
                <a:solidFill>
                  <a:schemeClr val="tx2"/>
                </a:solidFill>
              </a:rPr>
              <a:t>repos, issues and PRs</a:t>
            </a:r>
            <a:endParaRPr lang="en-US" sz="1300" dirty="0"/>
          </a:p>
        </p:txBody>
      </p:sp>
      <p:sp>
        <p:nvSpPr>
          <p:cNvPr id="13" name="Shape 11"/>
          <p:cNvSpPr/>
          <p:nvPr/>
        </p:nvSpPr>
        <p:spPr>
          <a:xfrm>
            <a:off x="6126480" y="1280160"/>
            <a:ext cx="2560320" cy="3200400"/>
          </a:xfrm>
          <a:prstGeom prst="roundRect">
            <a:avLst>
              <a:gd name="adj" fmla="val 5714"/>
            </a:avLst>
          </a:prstGeom>
          <a:solidFill>
            <a:schemeClr val="bg2"/>
          </a:solidFill>
          <a:ln/>
        </p:spPr>
      </p:sp>
      <p:sp>
        <p:nvSpPr>
          <p:cNvPr id="14" name="Text 12"/>
          <p:cNvSpPr txBox="1"/>
          <p:nvPr/>
        </p:nvSpPr>
        <p:spPr>
          <a:xfrm>
            <a:off x="6309360" y="1463040"/>
            <a:ext cx="219456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Linear</a:t>
            </a:r>
            <a:endParaRPr lang="en-US" sz="2000" dirty="0"/>
          </a:p>
        </p:txBody>
      </p:sp>
      <p:sp>
        <p:nvSpPr>
          <p:cNvPr id="15" name="Text 13"/>
          <p:cNvSpPr txBox="1"/>
          <p:nvPr/>
        </p:nvSpPr>
        <p:spPr>
          <a:xfrm>
            <a:off x="6309360" y="1874520"/>
            <a:ext cx="2194560" cy="548640"/>
          </a:xfrm>
          <a:prstGeom prst="rect">
            <a:avLst/>
          </a:prstGeom>
          <a:noFill/>
          <a:ln/>
        </p:spPr>
        <p:txBody>
          <a:bodyPr wrap="square" lIns="0" tIns="0" rIns="0" bIns="0" rtlCol="0" anchor="t"/>
          <a:lstStyle/>
          <a:p>
            <a:pPr indent="0" marL="0">
              <a:buNone/>
            </a:pPr>
            <a:r>
              <a:rPr lang="en-US" sz="1200" dirty="0">
                <a:solidFill>
                  <a:schemeClr val="accent3"/>
                </a:solidFill>
              </a:rPr>
              <a:t>Extra service</a:t>
            </a:r>
            <a:endParaRPr lang="en-US" sz="1200" dirty="0"/>
          </a:p>
        </p:txBody>
      </p:sp>
      <p:sp>
        <p:nvSpPr>
          <p:cNvPr id="16" name="Text 14"/>
          <p:cNvSpPr txBox="1"/>
          <p:nvPr/>
        </p:nvSpPr>
        <p:spPr>
          <a:xfrm>
            <a:off x="6309360" y="2514600"/>
            <a:ext cx="2194560" cy="822960"/>
          </a:xfrm>
          <a:prstGeom prst="rect">
            <a:avLst/>
          </a:prstGeom>
          <a:noFill/>
          <a:ln/>
        </p:spPr>
        <p:txBody>
          <a:bodyPr wrap="square" lIns="0" tIns="0" rIns="0" bIns="0" rtlCol="0" anchor="ctr"/>
          <a:lstStyle/>
          <a:p>
            <a:pPr indent="0" marL="0">
              <a:buNone/>
            </a:pPr>
            <a:r>
              <a:rPr lang="en-US" sz="4800" b="1" dirty="0">
                <a:solidFill>
                  <a:schemeClr val="accent1"/>
                </a:solidFill>
              </a:rPr>
              <a:t>9</a:t>
            </a:r>
            <a:endParaRPr lang="en-US" sz="4800" dirty="0"/>
          </a:p>
        </p:txBody>
      </p:sp>
      <p:sp>
        <p:nvSpPr>
          <p:cNvPr id="17" name="Text 15"/>
          <p:cNvSpPr txBox="1"/>
          <p:nvPr/>
        </p:nvSpPr>
        <p:spPr>
          <a:xfrm>
            <a:off x="6309360" y="3383280"/>
            <a:ext cx="2194560" cy="914400"/>
          </a:xfrm>
          <a:prstGeom prst="rect">
            <a:avLst/>
          </a:prstGeom>
          <a:noFill/>
          <a:ln/>
        </p:spPr>
        <p:txBody>
          <a:bodyPr wrap="square" lIns="0" tIns="0" rIns="0" bIns="0" rtlCol="0" anchor="t"/>
          <a:lstStyle/>
          <a:p>
            <a:pPr indent="0" marL="0">
              <a:buNone/>
            </a:pPr>
            <a:r>
              <a:rPr lang="en-US" sz="1300" dirty="0">
                <a:solidFill>
                  <a:schemeClr val="tx2"/>
                </a:solidFill>
              </a:rPr>
              <a:t>issues with comments; replaced Google Calendar</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pipeline for every service</a:t>
            </a:r>
            <a:endParaRPr lang="en-US" sz="3000" dirty="0"/>
          </a:p>
        </p:txBody>
      </p:sp>
      <p:sp>
        <p:nvSpPr>
          <p:cNvPr id="3" name="Shape 1"/>
          <p:cNvSpPr/>
          <p:nvPr/>
        </p:nvSpPr>
        <p:spPr>
          <a:xfrm>
            <a:off x="457200" y="1828800"/>
            <a:ext cx="1188720" cy="914400"/>
          </a:xfrm>
          <a:prstGeom prst="roundRect">
            <a:avLst>
              <a:gd name="adj" fmla="val 10000"/>
            </a:avLst>
          </a:prstGeom>
          <a:solidFill>
            <a:schemeClr val="accent1"/>
          </a:solidFill>
          <a:ln/>
        </p:spPr>
      </p:sp>
      <p:sp>
        <p:nvSpPr>
          <p:cNvPr id="4" name="Text 2"/>
          <p:cNvSpPr txBox="1"/>
          <p:nvPr/>
        </p:nvSpPr>
        <p:spPr>
          <a:xfrm>
            <a:off x="45720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Cloud service</a:t>
            </a:r>
            <a:endParaRPr lang="en-US" sz="1100" dirty="0"/>
          </a:p>
        </p:txBody>
      </p:sp>
      <p:sp>
        <p:nvSpPr>
          <p:cNvPr id="5" name="Shape 3"/>
          <p:cNvSpPr/>
          <p:nvPr/>
        </p:nvSpPr>
        <p:spPr>
          <a:xfrm>
            <a:off x="1682496" y="2176272"/>
            <a:ext cx="146304" cy="219456"/>
          </a:xfrm>
          <a:prstGeom prst="rightArrow">
            <a:avLst/>
          </a:prstGeom>
          <a:solidFill>
            <a:schemeClr val="accent3"/>
          </a:solidFill>
          <a:ln/>
        </p:spPr>
      </p:sp>
      <p:sp>
        <p:nvSpPr>
          <p:cNvPr id="6" name="Shape 4"/>
          <p:cNvSpPr/>
          <p:nvPr/>
        </p:nvSpPr>
        <p:spPr>
          <a:xfrm>
            <a:off x="1856232" y="1828800"/>
            <a:ext cx="1188720" cy="914400"/>
          </a:xfrm>
          <a:prstGeom prst="roundRect">
            <a:avLst>
              <a:gd name="adj" fmla="val 10000"/>
            </a:avLst>
          </a:prstGeom>
          <a:solidFill>
            <a:schemeClr val="accent1"/>
          </a:solidFill>
          <a:ln/>
        </p:spPr>
      </p:sp>
      <p:sp>
        <p:nvSpPr>
          <p:cNvPr id="7" name="Text 5"/>
          <p:cNvSpPr txBox="1"/>
          <p:nvPr/>
        </p:nvSpPr>
        <p:spPr>
          <a:xfrm>
            <a:off x="1856232"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Official MCP server</a:t>
            </a:r>
            <a:endParaRPr lang="en-US" sz="1100" dirty="0"/>
          </a:p>
        </p:txBody>
      </p:sp>
      <p:sp>
        <p:nvSpPr>
          <p:cNvPr id="8" name="Shape 6"/>
          <p:cNvSpPr/>
          <p:nvPr/>
        </p:nvSpPr>
        <p:spPr>
          <a:xfrm>
            <a:off x="3081528" y="2176272"/>
            <a:ext cx="146304" cy="219456"/>
          </a:xfrm>
          <a:prstGeom prst="rightArrow">
            <a:avLst/>
          </a:prstGeom>
          <a:solidFill>
            <a:schemeClr val="accent3"/>
          </a:solidFill>
          <a:ln/>
        </p:spPr>
      </p:sp>
      <p:sp>
        <p:nvSpPr>
          <p:cNvPr id="9" name="Shape 7"/>
          <p:cNvSpPr/>
          <p:nvPr/>
        </p:nvSpPr>
        <p:spPr>
          <a:xfrm>
            <a:off x="3255264" y="1828800"/>
            <a:ext cx="1188720" cy="914400"/>
          </a:xfrm>
          <a:prstGeom prst="roundRect">
            <a:avLst>
              <a:gd name="adj" fmla="val 10000"/>
            </a:avLst>
          </a:prstGeom>
          <a:solidFill>
            <a:schemeClr val="accent1"/>
          </a:solidFill>
          <a:ln/>
        </p:spPr>
      </p:sp>
      <p:sp>
        <p:nvSpPr>
          <p:cNvPr id="10" name="Text 8"/>
          <p:cNvSpPr txBox="1"/>
          <p:nvPr/>
        </p:nvSpPr>
        <p:spPr>
          <a:xfrm>
            <a:off x="3255264"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Download skill</a:t>
            </a:r>
            <a:endParaRPr lang="en-US" sz="1100" dirty="0"/>
          </a:p>
        </p:txBody>
      </p:sp>
      <p:sp>
        <p:nvSpPr>
          <p:cNvPr id="11" name="Shape 9"/>
          <p:cNvSpPr/>
          <p:nvPr/>
        </p:nvSpPr>
        <p:spPr>
          <a:xfrm>
            <a:off x="4480560" y="2176272"/>
            <a:ext cx="146304" cy="219456"/>
          </a:xfrm>
          <a:prstGeom prst="rightArrow">
            <a:avLst/>
          </a:prstGeom>
          <a:solidFill>
            <a:schemeClr val="accent3"/>
          </a:solidFill>
          <a:ln/>
        </p:spPr>
      </p:sp>
      <p:sp>
        <p:nvSpPr>
          <p:cNvPr id="12" name="Shape 10"/>
          <p:cNvSpPr/>
          <p:nvPr/>
        </p:nvSpPr>
        <p:spPr>
          <a:xfrm>
            <a:off x="4654296" y="1828800"/>
            <a:ext cx="1188720" cy="914400"/>
          </a:xfrm>
          <a:prstGeom prst="roundRect">
            <a:avLst>
              <a:gd name="adj" fmla="val 10000"/>
            </a:avLst>
          </a:prstGeom>
          <a:solidFill>
            <a:schemeClr val="accent1"/>
          </a:solidFill>
          <a:ln/>
        </p:spPr>
      </p:sp>
      <p:sp>
        <p:nvSpPr>
          <p:cNvPr id="13" name="Text 11"/>
          <p:cNvSpPr txBox="1"/>
          <p:nvPr/>
        </p:nvSpPr>
        <p:spPr>
          <a:xfrm>
            <a:off x="4654296"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save_export.py</a:t>
            </a:r>
            <a:endParaRPr lang="en-US" sz="1100" dirty="0"/>
          </a:p>
        </p:txBody>
      </p:sp>
      <p:sp>
        <p:nvSpPr>
          <p:cNvPr id="14" name="Shape 12"/>
          <p:cNvSpPr/>
          <p:nvPr/>
        </p:nvSpPr>
        <p:spPr>
          <a:xfrm>
            <a:off x="5879592" y="2176272"/>
            <a:ext cx="146304" cy="219456"/>
          </a:xfrm>
          <a:prstGeom prst="rightArrow">
            <a:avLst/>
          </a:prstGeom>
          <a:solidFill>
            <a:schemeClr val="accent3"/>
          </a:solidFill>
          <a:ln/>
        </p:spPr>
      </p:sp>
      <p:sp>
        <p:nvSpPr>
          <p:cNvPr id="15" name="Shape 13"/>
          <p:cNvSpPr/>
          <p:nvPr/>
        </p:nvSpPr>
        <p:spPr>
          <a:xfrm>
            <a:off x="6053328" y="1828800"/>
            <a:ext cx="1188720" cy="914400"/>
          </a:xfrm>
          <a:prstGeom prst="roundRect">
            <a:avLst>
              <a:gd name="adj" fmla="val 10000"/>
            </a:avLst>
          </a:prstGeom>
          <a:solidFill>
            <a:schemeClr val="accent1"/>
          </a:solidFill>
          <a:ln/>
        </p:spPr>
      </p:sp>
      <p:sp>
        <p:nvSpPr>
          <p:cNvPr id="16" name="Text 14"/>
          <p:cNvSpPr txBox="1"/>
          <p:nvPr/>
        </p:nvSpPr>
        <p:spPr>
          <a:xfrm>
            <a:off x="6053328"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dataExports/</a:t>
            </a:r>
            <a:endParaRPr lang="en-US" sz="1100" dirty="0"/>
          </a:p>
        </p:txBody>
      </p:sp>
      <p:sp>
        <p:nvSpPr>
          <p:cNvPr id="17" name="Shape 15"/>
          <p:cNvSpPr/>
          <p:nvPr/>
        </p:nvSpPr>
        <p:spPr>
          <a:xfrm>
            <a:off x="7278624" y="2176272"/>
            <a:ext cx="146304" cy="219456"/>
          </a:xfrm>
          <a:prstGeom prst="rightArrow">
            <a:avLst/>
          </a:prstGeom>
          <a:solidFill>
            <a:schemeClr val="accent3"/>
          </a:solidFill>
          <a:ln/>
        </p:spPr>
      </p:sp>
      <p:sp>
        <p:nvSpPr>
          <p:cNvPr id="18" name="Shape 16"/>
          <p:cNvSpPr/>
          <p:nvPr/>
        </p:nvSpPr>
        <p:spPr>
          <a:xfrm>
            <a:off x="7452360" y="1828800"/>
            <a:ext cx="1188720" cy="914400"/>
          </a:xfrm>
          <a:prstGeom prst="roundRect">
            <a:avLst>
              <a:gd name="adj" fmla="val 10000"/>
            </a:avLst>
          </a:prstGeom>
          <a:solidFill>
            <a:schemeClr val="accent2"/>
          </a:solidFill>
          <a:ln/>
        </p:spPr>
      </p:sp>
      <p:sp>
        <p:nvSpPr>
          <p:cNvPr id="19" name="Text 17"/>
          <p:cNvSpPr txBox="1"/>
          <p:nvPr/>
        </p:nvSpPr>
        <p:spPr>
          <a:xfrm>
            <a:off x="745236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tx1"/>
                </a:solidFill>
              </a:rPr>
              <a:t>Dashboard</a:t>
            </a:r>
            <a:endParaRPr lang="en-US" sz="1100" dirty="0"/>
          </a:p>
        </p:txBody>
      </p:sp>
      <p:sp>
        <p:nvSpPr>
          <p:cNvPr id="20" name="Text 18"/>
          <p:cNvSpPr txBox="1"/>
          <p:nvPr/>
        </p:nvSpPr>
        <p:spPr>
          <a:xfrm>
            <a:off x="457200" y="3108960"/>
            <a:ext cx="8229600" cy="1371600"/>
          </a:xfrm>
          <a:prstGeom prst="rect">
            <a:avLst/>
          </a:prstGeom>
          <a:noFill/>
          <a:ln/>
        </p:spPr>
        <p:txBody>
          <a:bodyPr wrap="square" rtlCol="0" anchor="t"/>
          <a:lstStyle/>
          <a:p>
            <a:pPr indent="0" marL="0">
              <a:spcAft>
                <a:spcPts val="600"/>
              </a:spcAft>
              <a:buNone/>
            </a:pPr>
            <a:r>
              <a:rPr lang="en-US" sz="1400" b="1" dirty="0">
                <a:solidFill>
                  <a:schemeClr val="tx1"/>
                </a:solidFill>
              </a:rPr>
              <a:t>Read-only: </a:t>
            </a:r>
            <a:pPr indent="0" marL="0">
              <a:spcAft>
                <a:spcPts val="600"/>
              </a:spcAft>
              <a:buNone/>
            </a:pPr>
            <a:r>
              <a:rPr lang="en-US" sz="1400" dirty="0">
                <a:solidFill>
                  <a:schemeClr val="tx2"/>
                </a:solidFill>
              </a:rPr>
              <a:t>skills only call get, list and search tools, never create or delete.</a:t>
            </a:r>
            <a:endParaRPr lang="en-US" sz="1400" dirty="0"/>
          </a:p>
          <a:p>
            <a:pPr indent="0" marL="0">
              <a:spcAft>
                <a:spcPts val="600"/>
              </a:spcAft>
              <a:buNone/>
            </a:pPr>
            <a:r>
              <a:rPr lang="en-US" sz="1400" b="1" dirty="0">
                <a:solidFill>
                  <a:schemeClr val="tx1"/>
                </a:solidFill>
              </a:rPr>
              <a:t>One writer: </a:t>
            </a:r>
            <a:pPr indent="0" marL="0">
              <a:spcAft>
                <a:spcPts val="600"/>
              </a:spcAft>
              <a:buNone/>
            </a:pPr>
            <a:r>
              <a:rPr lang="en-US" sz="1400" dirty="0">
                <a:solidFill>
                  <a:schemeClr val="tx2"/>
                </a:solidFill>
              </a:rPr>
              <a:t>save_export.py adds schemaVersion, exportedAt and searchText, and updates each _manifest.json.</a:t>
            </a:r>
            <a:endParaRPr lang="en-US" sz="1400" dirty="0"/>
          </a:p>
          <a:p>
            <a:pPr indent="0" marL="0">
              <a:spcAft>
                <a:spcPts val="600"/>
              </a:spcAft>
              <a:buNone/>
            </a:pPr>
            <a:r>
              <a:rPr lang="en-US" sz="1400" b="1" dirty="0">
                <a:solidFill>
                  <a:schemeClr val="tx1"/>
                </a:solidFill>
              </a:rPr>
              <a:t>Pluggable: </a:t>
            </a:r>
            <a:pPr indent="0" marL="0">
              <a:spcAft>
                <a:spcPts val="600"/>
              </a:spcAft>
              <a:buNone/>
            </a:pPr>
            <a:r>
              <a:rPr lang="en-US" sz="1400" dirty="0">
                <a:solidFill>
                  <a:schemeClr val="tx2"/>
                </a:solidFill>
              </a:rPr>
              <a:t>a new service folder under dataExports/ appears in the dashboard automatically.</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envelope makes everything searchable</a:t>
            </a:r>
            <a:endParaRPr lang="en-US" sz="3000" dirty="0"/>
          </a:p>
        </p:txBody>
      </p:sp>
      <p:sp>
        <p:nvSpPr>
          <p:cNvPr id="3" name="Shape 1"/>
          <p:cNvSpPr/>
          <p:nvPr/>
        </p:nvSpPr>
        <p:spPr>
          <a:xfrm>
            <a:off x="457200" y="1188720"/>
            <a:ext cx="3931920" cy="3383280"/>
          </a:xfrm>
          <a:prstGeom prst="roundRect">
            <a:avLst>
              <a:gd name="adj" fmla="val 3243"/>
            </a:avLst>
          </a:prstGeom>
          <a:solidFill>
            <a:schemeClr val="tx1"/>
          </a:solidFill>
          <a:ln/>
        </p:spPr>
      </p:sp>
      <p:sp>
        <p:nvSpPr>
          <p:cNvPr id="4" name="Text 2"/>
          <p:cNvSpPr txBox="1"/>
          <p:nvPr/>
        </p:nvSpPr>
        <p:spPr>
          <a:xfrm>
            <a:off x="640080" y="1325880"/>
            <a:ext cx="3657600" cy="3108960"/>
          </a:xfrm>
          <a:prstGeom prst="rect">
            <a:avLst/>
          </a:prstGeom>
          <a:noFill/>
          <a:ln/>
        </p:spPr>
        <p:txBody>
          <a:bodyPr wrap="square" lIns="0" tIns="0" rIns="0" bIns="0" rtlCol="0" anchor="ctr"/>
          <a:lstStyle/>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dataExports/</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notion/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pages/&lt;slug&gt;_&lt;hash8&gt;/</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github/</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repos/&lt;owner&gt;-&lt;repo&gt;_&lt;hash8&gt;.json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issues/&lt;repo&gt;-&lt;n&gt;_&lt;slug&gt;_&lt;hash8&gt;.json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linear/</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issues/&lt;KEY&gt;_&lt;slug&gt;_&lt;hash8&gt;.json</a:t>
            </a:r>
            <a:endParaRPr lang="en-US" sz="1100" dirty="0"/>
          </a:p>
        </p:txBody>
      </p:sp>
      <p:sp>
        <p:nvSpPr>
          <p:cNvPr id="5" name="Shape 3"/>
          <p:cNvSpPr/>
          <p:nvPr/>
        </p:nvSpPr>
        <p:spPr>
          <a:xfrm>
            <a:off x="4754880" y="1307592"/>
            <a:ext cx="411480" cy="411480"/>
          </a:xfrm>
          <a:prstGeom prst="ellipse">
            <a:avLst/>
          </a:prstGeom>
          <a:solidFill>
            <a:schemeClr val="accent1"/>
          </a:solidFill>
          <a:ln/>
        </p:spPr>
      </p:sp>
      <p:sp>
        <p:nvSpPr>
          <p:cNvPr id="6" name="Text 4"/>
          <p:cNvSpPr txBox="1"/>
          <p:nvPr/>
        </p:nvSpPr>
        <p:spPr>
          <a:xfrm>
            <a:off x="4754880" y="1307592"/>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5349240" y="1234440"/>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service</a:t>
            </a:r>
            <a:endParaRPr lang="en-US" sz="1500" dirty="0"/>
          </a:p>
        </p:txBody>
      </p:sp>
      <p:sp>
        <p:nvSpPr>
          <p:cNvPr id="8" name="Text 6"/>
          <p:cNvSpPr txBox="1"/>
          <p:nvPr/>
        </p:nvSpPr>
        <p:spPr>
          <a:xfrm>
            <a:off x="5349240" y="1527048"/>
            <a:ext cx="3383280" cy="274320"/>
          </a:xfrm>
          <a:prstGeom prst="rect">
            <a:avLst/>
          </a:prstGeom>
          <a:noFill/>
          <a:ln/>
        </p:spPr>
        <p:txBody>
          <a:bodyPr wrap="square" lIns="0" tIns="0" rIns="0" bIns="0" rtlCol="0" anchor="ctr"/>
          <a:lstStyle/>
          <a:p>
            <a:pPr indent="0" marL="0">
              <a:buNone/>
            </a:pPr>
            <a:r>
              <a:rPr lang="en-US" sz="1300" dirty="0">
                <a:solidFill>
                  <a:schemeClr val="tx2"/>
                </a:solidFill>
              </a:rPr>
              <a:t>which service</a:t>
            </a:r>
            <a:endParaRPr lang="en-US" sz="1300" dirty="0"/>
          </a:p>
        </p:txBody>
      </p:sp>
      <p:sp>
        <p:nvSpPr>
          <p:cNvPr id="9" name="Shape 7"/>
          <p:cNvSpPr/>
          <p:nvPr/>
        </p:nvSpPr>
        <p:spPr>
          <a:xfrm>
            <a:off x="4754880" y="1975104"/>
            <a:ext cx="411480" cy="411480"/>
          </a:xfrm>
          <a:prstGeom prst="ellipse">
            <a:avLst/>
          </a:prstGeom>
          <a:solidFill>
            <a:schemeClr val="accent1"/>
          </a:solidFill>
          <a:ln/>
        </p:spPr>
      </p:sp>
      <p:sp>
        <p:nvSpPr>
          <p:cNvPr id="10" name="Text 8"/>
          <p:cNvSpPr txBox="1"/>
          <p:nvPr/>
        </p:nvSpPr>
        <p:spPr>
          <a:xfrm>
            <a:off x="4754880" y="1975104"/>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5349240" y="1901952"/>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id, title, date, url</a:t>
            </a:r>
            <a:endParaRPr lang="en-US" sz="1500" dirty="0"/>
          </a:p>
        </p:txBody>
      </p:sp>
      <p:sp>
        <p:nvSpPr>
          <p:cNvPr id="12" name="Text 10"/>
          <p:cNvSpPr txBox="1"/>
          <p:nvPr/>
        </p:nvSpPr>
        <p:spPr>
          <a:xfrm>
            <a:off x="5349240" y="2194560"/>
            <a:ext cx="3383280" cy="274320"/>
          </a:xfrm>
          <a:prstGeom prst="rect">
            <a:avLst/>
          </a:prstGeom>
          <a:noFill/>
          <a:ln/>
        </p:spPr>
        <p:txBody>
          <a:bodyPr wrap="square" lIns="0" tIns="0" rIns="0" bIns="0" rtlCol="0" anchor="ctr"/>
          <a:lstStyle/>
          <a:p>
            <a:pPr indent="0" marL="0">
              <a:buNone/>
            </a:pPr>
            <a:r>
              <a:rPr lang="en-US" sz="1300" dirty="0">
                <a:solidFill>
                  <a:schemeClr val="tx2"/>
                </a:solidFill>
              </a:rPr>
              <a:t>list, sort and open any item</a:t>
            </a:r>
            <a:endParaRPr lang="en-US" sz="1300" dirty="0"/>
          </a:p>
        </p:txBody>
      </p:sp>
      <p:sp>
        <p:nvSpPr>
          <p:cNvPr id="13" name="Shape 11"/>
          <p:cNvSpPr/>
          <p:nvPr/>
        </p:nvSpPr>
        <p:spPr>
          <a:xfrm>
            <a:off x="4754880" y="2642616"/>
            <a:ext cx="411480" cy="411480"/>
          </a:xfrm>
          <a:prstGeom prst="ellipse">
            <a:avLst/>
          </a:prstGeom>
          <a:solidFill>
            <a:schemeClr val="accent1"/>
          </a:solidFill>
          <a:ln/>
        </p:spPr>
      </p:sp>
      <p:sp>
        <p:nvSpPr>
          <p:cNvPr id="14" name="Text 12"/>
          <p:cNvSpPr txBox="1"/>
          <p:nvPr/>
        </p:nvSpPr>
        <p:spPr>
          <a:xfrm>
            <a:off x="4754880" y="2642616"/>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5349240" y="2569464"/>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searchText</a:t>
            </a:r>
            <a:endParaRPr lang="en-US" sz="1500" dirty="0"/>
          </a:p>
        </p:txBody>
      </p:sp>
      <p:sp>
        <p:nvSpPr>
          <p:cNvPr id="16" name="Text 14"/>
          <p:cNvSpPr txBox="1"/>
          <p:nvPr/>
        </p:nvSpPr>
        <p:spPr>
          <a:xfrm>
            <a:off x="5349240" y="2862072"/>
            <a:ext cx="3383280" cy="274320"/>
          </a:xfrm>
          <a:prstGeom prst="rect">
            <a:avLst/>
          </a:prstGeom>
          <a:noFill/>
          <a:ln/>
        </p:spPr>
        <p:txBody>
          <a:bodyPr wrap="square" lIns="0" tIns="0" rIns="0" bIns="0" rtlCol="0" anchor="ctr"/>
          <a:lstStyle/>
          <a:p>
            <a:pPr indent="0" marL="0">
              <a:buNone/>
            </a:pPr>
            <a:r>
              <a:rPr lang="en-US" sz="1300" dirty="0">
                <a:solidFill>
                  <a:schemeClr val="tx2"/>
                </a:solidFill>
              </a:rPr>
              <a:t>lower-cased text for search</a:t>
            </a:r>
            <a:endParaRPr lang="en-US" sz="1300" dirty="0"/>
          </a:p>
        </p:txBody>
      </p:sp>
      <p:sp>
        <p:nvSpPr>
          <p:cNvPr id="17" name="Shape 15"/>
          <p:cNvSpPr/>
          <p:nvPr/>
        </p:nvSpPr>
        <p:spPr>
          <a:xfrm>
            <a:off x="4754880" y="3310128"/>
            <a:ext cx="411480" cy="411480"/>
          </a:xfrm>
          <a:prstGeom prst="ellipse">
            <a:avLst/>
          </a:prstGeom>
          <a:solidFill>
            <a:schemeClr val="accent1"/>
          </a:solidFill>
          <a:ln/>
        </p:spPr>
      </p:sp>
      <p:sp>
        <p:nvSpPr>
          <p:cNvPr id="18" name="Text 16"/>
          <p:cNvSpPr txBox="1"/>
          <p:nvPr/>
        </p:nvSpPr>
        <p:spPr>
          <a:xfrm>
            <a:off x="4754880" y="3310128"/>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349240" y="3236976"/>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source</a:t>
            </a:r>
            <a:endParaRPr lang="en-US" sz="1500" dirty="0"/>
          </a:p>
        </p:txBody>
      </p:sp>
      <p:sp>
        <p:nvSpPr>
          <p:cNvPr id="20" name="Text 18"/>
          <p:cNvSpPr txBox="1"/>
          <p:nvPr/>
        </p:nvSpPr>
        <p:spPr>
          <a:xfrm>
            <a:off x="5349240" y="3529584"/>
            <a:ext cx="3383280" cy="274320"/>
          </a:xfrm>
          <a:prstGeom prst="rect">
            <a:avLst/>
          </a:prstGeom>
          <a:noFill/>
          <a:ln/>
        </p:spPr>
        <p:txBody>
          <a:bodyPr wrap="square" lIns="0" tIns="0" rIns="0" bIns="0" rtlCol="0" anchor="ctr"/>
          <a:lstStyle/>
          <a:p>
            <a:pPr indent="0" marL="0">
              <a:buNone/>
            </a:pPr>
            <a:r>
              <a:rPr lang="en-US" sz="1300" dirty="0">
                <a:solidFill>
                  <a:schemeClr val="tx2"/>
                </a:solidFill>
              </a:rPr>
              <a:t>MCP server, tools, request</a:t>
            </a:r>
            <a:endParaRPr lang="en-US" sz="1300" dirty="0"/>
          </a:p>
        </p:txBody>
      </p:sp>
      <p:sp>
        <p:nvSpPr>
          <p:cNvPr id="21" name="Shape 19"/>
          <p:cNvSpPr/>
          <p:nvPr/>
        </p:nvSpPr>
        <p:spPr>
          <a:xfrm>
            <a:off x="4754880" y="3977640"/>
            <a:ext cx="411480" cy="411480"/>
          </a:xfrm>
          <a:prstGeom prst="ellipse">
            <a:avLst/>
          </a:prstGeom>
          <a:solidFill>
            <a:schemeClr val="accent1"/>
          </a:solidFill>
          <a:ln/>
        </p:spPr>
      </p:sp>
      <p:sp>
        <p:nvSpPr>
          <p:cNvPr id="22" name="Text 20"/>
          <p:cNvSpPr txBox="1"/>
          <p:nvPr/>
        </p:nvSpPr>
        <p:spPr>
          <a:xfrm>
            <a:off x="4754880" y="3977640"/>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5349240" y="3904488"/>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data</a:t>
            </a:r>
            <a:endParaRPr lang="en-US" sz="1500" dirty="0"/>
          </a:p>
        </p:txBody>
      </p:sp>
      <p:sp>
        <p:nvSpPr>
          <p:cNvPr id="24" name="Text 22"/>
          <p:cNvSpPr txBox="1"/>
          <p:nvPr/>
        </p:nvSpPr>
        <p:spPr>
          <a:xfrm>
            <a:off x="5349240" y="4197096"/>
            <a:ext cx="3383280" cy="274320"/>
          </a:xfrm>
          <a:prstGeom prst="rect">
            <a:avLst/>
          </a:prstGeom>
          <a:noFill/>
          <a:ln/>
        </p:spPr>
        <p:txBody>
          <a:bodyPr wrap="square" lIns="0" tIns="0" rIns="0" bIns="0" rtlCol="0" anchor="ctr"/>
          <a:lstStyle/>
          <a:p>
            <a:pPr indent="0" marL="0">
              <a:buNone/>
            </a:pPr>
            <a:r>
              <a:rPr lang="en-US" sz="1300" dirty="0">
                <a:solidFill>
                  <a:schemeClr val="tx2"/>
                </a:solidFill>
              </a:rPr>
              <a:t>service-specific fields + raw</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search across Notion, GitHub and Linear</a:t>
            </a:r>
            <a:endParaRPr lang="en-US" sz="3000" dirty="0"/>
          </a:p>
        </p:txBody>
      </p:sp>
      <p:pic>
        <p:nvPicPr>
          <p:cNvPr id="3" name="Image 0" descr="Dashboard search for Sarah Kim showing Notion and GitHub results side by side">    </p:cNvPr>
          <p:cNvPicPr>
            <a:picLocks noChangeAspect="1"/>
          </p:cNvPicPr>
          <p:nvPr/>
        </p:nvPicPr>
        <p:blipFill>
          <a:blip r:embed="rId1"/>
          <a:stretch>
            <a:fillRect/>
          </a:stretch>
        </p:blipFill>
        <p:spPr>
          <a:xfrm>
            <a:off x="457200" y="1097280"/>
            <a:ext cx="5760720" cy="3639312"/>
          </a:xfrm>
          <a:prstGeom prst="rect">
            <a:avLst/>
          </a:prstGeom>
        </p:spPr>
      </p:pic>
      <p:sp>
        <p:nvSpPr>
          <p:cNvPr id="4" name="Text 1"/>
          <p:cNvSpPr txBox="1"/>
          <p:nvPr/>
        </p:nvSpPr>
        <p:spPr>
          <a:xfrm>
            <a:off x="6492240" y="1188720"/>
            <a:ext cx="2194560" cy="3474720"/>
          </a:xfrm>
          <a:prstGeom prst="rect">
            <a:avLst/>
          </a:prstGeom>
          <a:noFill/>
          <a:ln/>
        </p:spPr>
        <p:txBody>
          <a:bodyPr wrap="square" lIns="0" tIns="0" rIns="0" bIns="0" rtlCol="0" anchor="t"/>
          <a:lstStyle/>
          <a:p>
            <a:pPr indent="0" marL="0">
              <a:buNone/>
            </a:pPr>
            <a:r>
              <a:rPr lang="en-US" sz="4400" b="1" dirty="0">
                <a:solidFill>
                  <a:schemeClr val="accent1"/>
                </a:solidFill>
              </a:rPr>
              <a:t>37</a:t>
            </a:r>
            <a:endParaRPr lang="en-US" sz="1400" dirty="0"/>
          </a:p>
          <a:p>
            <a:pPr indent="0" marL="0">
              <a:buNone/>
            </a:pPr>
            <a:r>
              <a:rPr lang="en-US" sz="1400" dirty="0">
                <a:solidFill>
                  <a:schemeClr val="tx2"/>
                </a:solidFill>
              </a:rPr>
              <a:t>items from 3 services</a:t>
            </a:r>
            <a:endParaRPr lang="en-US" sz="1400" dirty="0"/>
          </a:p>
          <a:p>
            <a:pPr indent="0" marL="0">
              <a:buNone/>
            </a:pPr>
            <a:r>
              <a:rPr lang="en-US" sz="1000" dirty="0">
                <a:solidFill>
                  <a:schemeClr val="tx2"/>
                </a:solidFill>
              </a:rPr>
              <a:t> </a:t>
            </a:r>
            <a:endParaRPr lang="en-US" sz="1400" dirty="0"/>
          </a:p>
          <a:p>
            <a:pPr indent="0" marL="0">
              <a:buNone/>
            </a:pPr>
            <a:r>
              <a:rPr lang="en-US" sz="4400" b="1" dirty="0">
                <a:solidFill>
                  <a:schemeClr val="accent2"/>
                </a:solidFill>
              </a:rPr>
              <a:t>21</a:t>
            </a:r>
            <a:endParaRPr lang="en-US" sz="1400" dirty="0"/>
          </a:p>
          <a:p>
            <a:pPr indent="0" marL="0">
              <a:buNone/>
            </a:pPr>
            <a:r>
              <a:rPr lang="en-US" sz="1400" dirty="0">
                <a:solidFill>
                  <a:schemeClr val="tx2"/>
                </a:solidFill>
              </a:rPr>
              <a:t>results for “Sarah Kim”, each tagged with its service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74320"/>
            <a:ext cx="8229600" cy="685800"/>
          </a:xfrm>
        </p:spPr>
        <p:txBody>
          <a:bodyPr wrap="square" lIns="0" tIns="0" rIns="0" bIns="0" rtlCol="0" anchor="ctr"/>
          <a:lstStyle/>
          <a:p>
            <a:r>
              <a:rPr sz="3000" b="1"/>
              <a:t>Notion: original and in the dashboard</a:t>
            </a:r>
          </a:p>
        </p:txBody>
      </p:sp>
      <p:sp>
        <p:nvSpPr>
          <p:cNvPr id="3" name="TextBox 2"/>
          <p:cNvSpPr txBox="1"/>
          <p:nvPr/>
        </p:nvSpPr>
        <p:spPr>
          <a:xfrm>
            <a:off x="457200" y="1097280"/>
            <a:ext cx="4023360" cy="320040"/>
          </a:xfrm>
          <a:prstGeom prst="rect">
            <a:avLst/>
          </a:prstGeom>
          <a:noFill/>
        </p:spPr>
        <p:txBody>
          <a:bodyPr wrap="none" lIns="0" rIns="0">
            <a:spAutoFit/>
          </a:bodyPr>
          <a:lstStyle/>
          <a:p>
            <a:r>
              <a:rPr sz="1400" b="1">
                <a:solidFill>
                  <a:schemeClr val="accent1"/>
                </a:solidFill>
              </a:rPr>
              <a:t>In Notion</a:t>
            </a:r>
          </a:p>
        </p:txBody>
      </p:sp>
      <p:sp>
        <p:nvSpPr>
          <p:cNvPr id="4" name="TextBox 3"/>
          <p:cNvSpPr txBox="1"/>
          <p:nvPr/>
        </p:nvSpPr>
        <p:spPr>
          <a:xfrm>
            <a:off x="4663440" y="1097280"/>
            <a:ext cx="4023360" cy="320040"/>
          </a:xfrm>
          <a:prstGeom prst="rect">
            <a:avLst/>
          </a:prstGeom>
          <a:noFill/>
        </p:spPr>
        <p:txBody>
          <a:bodyPr wrap="none" lIns="0" rIns="0">
            <a:spAutoFit/>
          </a:bodyPr>
          <a:lstStyle/>
          <a:p>
            <a:r>
              <a:rPr sz="1400" b="1">
                <a:solidFill>
                  <a:schemeClr val="accent1"/>
                </a:solidFill>
              </a:rPr>
              <a:t>In the dashboard</a:t>
            </a:r>
          </a:p>
        </p:txBody>
      </p:sp>
      <p:pic>
        <p:nvPicPr>
          <p:cNvPr id="5" name="Picture 4" descr="notion-original.jpg"/>
          <p:cNvPicPr>
            <a:picLocks noChangeAspect="1"/>
          </p:cNvPicPr>
          <p:nvPr/>
        </p:nvPicPr>
        <p:blipFill>
          <a:blip r:embed="rId2"/>
          <a:stretch>
            <a:fillRect/>
          </a:stretch>
        </p:blipFill>
        <p:spPr>
          <a:xfrm>
            <a:off x="457200" y="1463040"/>
            <a:ext cx="4023360" cy="2539746"/>
          </a:xfrm>
          <a:prstGeom prst="rect">
            <a:avLst/>
          </a:prstGeom>
        </p:spPr>
      </p:pic>
      <p:pic>
        <p:nvPicPr>
          <p:cNvPr id="6" name="Picture 5" descr="notion-dashboard.jpg"/>
          <p:cNvPicPr>
            <a:picLocks noChangeAspect="1"/>
          </p:cNvPicPr>
          <p:nvPr/>
        </p:nvPicPr>
        <p:blipFill>
          <a:blip r:embed="rId3"/>
          <a:stretch>
            <a:fillRect/>
          </a:stretch>
        </p:blipFill>
        <p:spPr>
          <a:xfrm>
            <a:off x="4663440" y="1463040"/>
            <a:ext cx="4023360" cy="2539746"/>
          </a:xfrm>
          <a:prstGeom prst="rect">
            <a:avLst/>
          </a:prstGeom>
        </p:spPr>
      </p:pic>
      <p:sp>
        <p:nvSpPr>
          <p:cNvPr id="7" name="TextBox 6"/>
          <p:cNvSpPr txBox="1"/>
          <p:nvPr/>
        </p:nvSpPr>
        <p:spPr>
          <a:xfrm>
            <a:off x="457200" y="4114800"/>
            <a:ext cx="8229600" cy="365760"/>
          </a:xfrm>
          <a:prstGeom prst="rect">
            <a:avLst/>
          </a:prstGeom>
          <a:noFill/>
        </p:spPr>
        <p:txBody>
          <a:bodyPr wrap="none" lIns="0">
            <a:spAutoFit/>
          </a:bodyPr>
          <a:lstStyle/>
          <a:p>
            <a:r>
              <a:rPr sz="1200">
                <a:solidFill>
                  <a:schemeClr val="accent3"/>
                </a:solidFill>
              </a:rPr>
              <a:t>Notion page “Client Call with Sarah Kim – Oct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74320"/>
            <a:ext cx="8229600" cy="685800"/>
          </a:xfrm>
        </p:spPr>
        <p:txBody>
          <a:bodyPr wrap="square" lIns="0" tIns="0" rIns="0" bIns="0" rtlCol="0" anchor="ctr"/>
          <a:lstStyle/>
          <a:p>
            <a:r>
              <a:rPr sz="3000" b="1"/>
              <a:t>GitHub: original and in the dashboard</a:t>
            </a:r>
          </a:p>
        </p:txBody>
      </p:sp>
      <p:sp>
        <p:nvSpPr>
          <p:cNvPr id="3" name="TextBox 2"/>
          <p:cNvSpPr txBox="1"/>
          <p:nvPr/>
        </p:nvSpPr>
        <p:spPr>
          <a:xfrm>
            <a:off x="457200" y="1097280"/>
            <a:ext cx="4023360" cy="320040"/>
          </a:xfrm>
          <a:prstGeom prst="rect">
            <a:avLst/>
          </a:prstGeom>
          <a:noFill/>
        </p:spPr>
        <p:txBody>
          <a:bodyPr wrap="none" lIns="0" rIns="0">
            <a:spAutoFit/>
          </a:bodyPr>
          <a:lstStyle/>
          <a:p>
            <a:r>
              <a:rPr sz="1400" b="1">
                <a:solidFill>
                  <a:schemeClr val="accent1"/>
                </a:solidFill>
              </a:rPr>
              <a:t>In GitHub</a:t>
            </a:r>
          </a:p>
        </p:txBody>
      </p:sp>
      <p:sp>
        <p:nvSpPr>
          <p:cNvPr id="4" name="TextBox 3"/>
          <p:cNvSpPr txBox="1"/>
          <p:nvPr/>
        </p:nvSpPr>
        <p:spPr>
          <a:xfrm>
            <a:off x="4663440" y="1097280"/>
            <a:ext cx="4023360" cy="320040"/>
          </a:xfrm>
          <a:prstGeom prst="rect">
            <a:avLst/>
          </a:prstGeom>
          <a:noFill/>
        </p:spPr>
        <p:txBody>
          <a:bodyPr wrap="none" lIns="0" rIns="0">
            <a:spAutoFit/>
          </a:bodyPr>
          <a:lstStyle/>
          <a:p>
            <a:r>
              <a:rPr sz="1400" b="1">
                <a:solidFill>
                  <a:schemeClr val="accent1"/>
                </a:solidFill>
              </a:rPr>
              <a:t>In the dashboard</a:t>
            </a:r>
          </a:p>
        </p:txBody>
      </p:sp>
      <p:pic>
        <p:nvPicPr>
          <p:cNvPr id="5" name="Picture 4" descr="github-original.jpg"/>
          <p:cNvPicPr>
            <a:picLocks noChangeAspect="1"/>
          </p:cNvPicPr>
          <p:nvPr/>
        </p:nvPicPr>
        <p:blipFill>
          <a:blip r:embed="rId2"/>
          <a:stretch>
            <a:fillRect/>
          </a:stretch>
        </p:blipFill>
        <p:spPr>
          <a:xfrm>
            <a:off x="457200" y="1463040"/>
            <a:ext cx="4023360" cy="2539746"/>
          </a:xfrm>
          <a:prstGeom prst="rect">
            <a:avLst/>
          </a:prstGeom>
        </p:spPr>
      </p:pic>
      <p:pic>
        <p:nvPicPr>
          <p:cNvPr id="6" name="Picture 5" descr="github-dashboard.jpg"/>
          <p:cNvPicPr>
            <a:picLocks noChangeAspect="1"/>
          </p:cNvPicPr>
          <p:nvPr/>
        </p:nvPicPr>
        <p:blipFill>
          <a:blip r:embed="rId3"/>
          <a:stretch>
            <a:fillRect/>
          </a:stretch>
        </p:blipFill>
        <p:spPr>
          <a:xfrm>
            <a:off x="4663440" y="1463040"/>
            <a:ext cx="4023360" cy="2539746"/>
          </a:xfrm>
          <a:prstGeom prst="rect">
            <a:avLst/>
          </a:prstGeom>
        </p:spPr>
      </p:pic>
      <p:sp>
        <p:nvSpPr>
          <p:cNvPr id="7" name="TextBox 6"/>
          <p:cNvSpPr txBox="1"/>
          <p:nvPr/>
        </p:nvSpPr>
        <p:spPr>
          <a:xfrm>
            <a:off x="457200" y="4114800"/>
            <a:ext cx="8229600" cy="365760"/>
          </a:xfrm>
          <a:prstGeom prst="rect">
            <a:avLst/>
          </a:prstGeom>
          <a:noFill/>
        </p:spPr>
        <p:txBody>
          <a:bodyPr wrap="none" lIns="0">
            <a:spAutoFit/>
          </a:bodyPr>
          <a:lstStyle/>
          <a:p>
            <a:r>
              <a:rPr sz="1200">
                <a:solidFill>
                  <a:schemeClr val="accent3"/>
                </a:solidFill>
              </a:rPr>
              <a:t>Issue #1 in nyohayon-jpg/apollo-data-importer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74320"/>
            <a:ext cx="8229600" cy="685800"/>
          </a:xfrm>
        </p:spPr>
        <p:txBody>
          <a:bodyPr wrap="square" lIns="0" tIns="0" rIns="0" bIns="0" rtlCol="0" anchor="ctr"/>
          <a:lstStyle/>
          <a:p>
            <a:r>
              <a:rPr sz="3000" b="1"/>
              <a:t>Linear: original and in the dashboard</a:t>
            </a:r>
          </a:p>
        </p:txBody>
      </p:sp>
      <p:sp>
        <p:nvSpPr>
          <p:cNvPr id="3" name="TextBox 2"/>
          <p:cNvSpPr txBox="1"/>
          <p:nvPr/>
        </p:nvSpPr>
        <p:spPr>
          <a:xfrm>
            <a:off x="457200" y="1097280"/>
            <a:ext cx="4023360" cy="320040"/>
          </a:xfrm>
          <a:prstGeom prst="rect">
            <a:avLst/>
          </a:prstGeom>
          <a:noFill/>
        </p:spPr>
        <p:txBody>
          <a:bodyPr wrap="none" lIns="0" rIns="0">
            <a:spAutoFit/>
          </a:bodyPr>
          <a:lstStyle/>
          <a:p>
            <a:r>
              <a:rPr sz="1400" b="1">
                <a:solidFill>
                  <a:schemeClr val="accent1"/>
                </a:solidFill>
              </a:rPr>
              <a:t>In Linear</a:t>
            </a:r>
          </a:p>
        </p:txBody>
      </p:sp>
      <p:sp>
        <p:nvSpPr>
          <p:cNvPr id="4" name="TextBox 3"/>
          <p:cNvSpPr txBox="1"/>
          <p:nvPr/>
        </p:nvSpPr>
        <p:spPr>
          <a:xfrm>
            <a:off x="4663440" y="1097280"/>
            <a:ext cx="4023360" cy="320040"/>
          </a:xfrm>
          <a:prstGeom prst="rect">
            <a:avLst/>
          </a:prstGeom>
          <a:noFill/>
        </p:spPr>
        <p:txBody>
          <a:bodyPr wrap="none" lIns="0" rIns="0">
            <a:spAutoFit/>
          </a:bodyPr>
          <a:lstStyle/>
          <a:p>
            <a:r>
              <a:rPr sz="1400" b="1">
                <a:solidFill>
                  <a:schemeClr val="accent1"/>
                </a:solidFill>
              </a:rPr>
              <a:t>In the dashboard</a:t>
            </a:r>
          </a:p>
        </p:txBody>
      </p:sp>
      <p:pic>
        <p:nvPicPr>
          <p:cNvPr id="5" name="Picture 4" descr="linear-original.jpg"/>
          <p:cNvPicPr>
            <a:picLocks noChangeAspect="1"/>
          </p:cNvPicPr>
          <p:nvPr/>
        </p:nvPicPr>
        <p:blipFill>
          <a:blip r:embed="rId2"/>
          <a:stretch>
            <a:fillRect/>
          </a:stretch>
        </p:blipFill>
        <p:spPr>
          <a:xfrm>
            <a:off x="457200" y="1463040"/>
            <a:ext cx="4023360" cy="2539746"/>
          </a:xfrm>
          <a:prstGeom prst="rect">
            <a:avLst/>
          </a:prstGeom>
        </p:spPr>
      </p:pic>
      <p:pic>
        <p:nvPicPr>
          <p:cNvPr id="6" name="Picture 5" descr="linear-dashboard.jpg"/>
          <p:cNvPicPr>
            <a:picLocks noChangeAspect="1"/>
          </p:cNvPicPr>
          <p:nvPr/>
        </p:nvPicPr>
        <p:blipFill>
          <a:blip r:embed="rId3"/>
          <a:stretch>
            <a:fillRect/>
          </a:stretch>
        </p:blipFill>
        <p:spPr>
          <a:xfrm>
            <a:off x="4663440" y="1463040"/>
            <a:ext cx="4023360" cy="2539746"/>
          </a:xfrm>
          <a:prstGeom prst="rect">
            <a:avLst/>
          </a:prstGeom>
        </p:spPr>
      </p:pic>
      <p:sp>
        <p:nvSpPr>
          <p:cNvPr id="7" name="TextBox 6"/>
          <p:cNvSpPr txBox="1"/>
          <p:nvPr/>
        </p:nvSpPr>
        <p:spPr>
          <a:xfrm>
            <a:off x="457200" y="4114800"/>
            <a:ext cx="8229600" cy="365760"/>
          </a:xfrm>
          <a:prstGeom prst="rect">
            <a:avLst/>
          </a:prstGeom>
          <a:noFill/>
        </p:spPr>
        <p:txBody>
          <a:bodyPr wrap="none" lIns="0">
            <a:spAutoFit/>
          </a:bodyPr>
          <a:lstStyle/>
          <a:p>
            <a:r>
              <a:rPr sz="1200">
                <a:solidFill>
                  <a:schemeClr val="accent3"/>
                </a:solidFill>
              </a:rPr>
              <a:t>Issue BLU-7 in the Project Apollo project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Secure by default, easy to extend</a:t>
            </a:r>
            <a:endParaRPr lang="en-US" sz="3000" dirty="0"/>
          </a:p>
        </p:txBody>
      </p:sp>
      <p:sp>
        <p:nvSpPr>
          <p:cNvPr id="3" name="Shape 1"/>
          <p:cNvSpPr/>
          <p:nvPr/>
        </p:nvSpPr>
        <p:spPr>
          <a:xfrm>
            <a:off x="457200" y="1188720"/>
            <a:ext cx="4023360" cy="3383280"/>
          </a:xfrm>
          <a:prstGeom prst="roundRect">
            <a:avLst>
              <a:gd name="adj" fmla="val 3243"/>
            </a:avLst>
          </a:prstGeom>
          <a:solidFill>
            <a:schemeClr val="bg2"/>
          </a:solidFill>
          <a:ln/>
        </p:spPr>
      </p:sp>
      <p:sp>
        <p:nvSpPr>
          <p:cNvPr id="4" name="Shape 2"/>
          <p:cNvSpPr/>
          <p:nvPr/>
        </p:nvSpPr>
        <p:spPr>
          <a:xfrm>
            <a:off x="731520" y="1371600"/>
            <a:ext cx="502920" cy="502920"/>
          </a:xfrm>
          <a:prstGeom prst="ellipse">
            <a:avLst/>
          </a:prstGeom>
          <a:solidFill>
            <a:schemeClr val="accent1"/>
          </a:solidFill>
          <a:ln/>
        </p:spPr>
      </p:sp>
      <p:sp>
        <p:nvSpPr>
          <p:cNvPr id="5" name="Text 3"/>
          <p:cNvSpPr txBox="1"/>
          <p:nvPr/>
        </p:nvSpPr>
        <p:spPr>
          <a:xfrm>
            <a:off x="73152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6" name="Text 4"/>
          <p:cNvSpPr txBox="1"/>
          <p:nvPr/>
        </p:nvSpPr>
        <p:spPr>
          <a:xfrm>
            <a:off x="137160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Security</a:t>
            </a:r>
            <a:endParaRPr lang="en-US" sz="2000" dirty="0"/>
          </a:p>
        </p:txBody>
      </p:sp>
      <p:sp>
        <p:nvSpPr>
          <p:cNvPr id="7" name="Text 5"/>
          <p:cNvSpPr txBox="1"/>
          <p:nvPr/>
        </p:nvSpPr>
        <p:spPr>
          <a:xfrm>
            <a:off x="73152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OAuth tokens live in the OS keychain, managed by Claude Code</a:t>
            </a:r>
            <a:endParaRPr lang="en-US" sz="1400" dirty="0"/>
          </a:p>
          <a:p>
            <a:pPr marL="342900" indent="-342900">
              <a:spcAft>
                <a:spcPts val="800"/>
              </a:spcAft>
              <a:buSzPct val="100000"/>
              <a:buChar char="•"/>
            </a:pPr>
            <a:r>
              <a:rPr lang="en-US" sz="1400" dirty="0">
                <a:solidFill>
                  <a:schemeClr val="tx2"/>
                </a:solidFill>
              </a:rPr>
              <a:t>GitHub token comes from the GITHUB_PAT environment variable</a:t>
            </a:r>
            <a:endParaRPr lang="en-US" sz="1400" dirty="0"/>
          </a:p>
          <a:p>
            <a:pPr marL="342900" indent="-342900">
              <a:spcAft>
                <a:spcPts val="800"/>
              </a:spcAft>
              <a:buSzPct val="100000"/>
              <a:buChar char="•"/>
            </a:pPr>
            <a:r>
              <a:rPr lang="en-US" sz="1400" dirty="0">
                <a:solidFill>
                  <a:schemeClr val="tx2"/>
                </a:solidFill>
              </a:rPr>
              <a:t>.gitignore blocks .env, credentials and token files</a:t>
            </a:r>
            <a:endParaRPr lang="en-US" sz="1400" dirty="0"/>
          </a:p>
          <a:p>
            <a:pPr marL="342900" indent="-342900">
              <a:spcAft>
                <a:spcPts val="800"/>
              </a:spcAft>
              <a:buSzPct val="100000"/>
              <a:buChar char="•"/>
            </a:pPr>
            <a:r>
              <a:rPr lang="en-US" sz="1400" dirty="0">
                <a:solidFill>
                  <a:schemeClr val="tx2"/>
                </a:solidFill>
              </a:rPr>
              <a:t>Only test accounts and fictional data</a:t>
            </a:r>
            <a:endParaRPr lang="en-US" sz="1400" dirty="0"/>
          </a:p>
        </p:txBody>
      </p:sp>
      <p:sp>
        <p:nvSpPr>
          <p:cNvPr id="8" name="Shape 6"/>
          <p:cNvSpPr/>
          <p:nvPr/>
        </p:nvSpPr>
        <p:spPr>
          <a:xfrm>
            <a:off x="4663440" y="1188720"/>
            <a:ext cx="4023360" cy="3383280"/>
          </a:xfrm>
          <a:prstGeom prst="roundRect">
            <a:avLst>
              <a:gd name="adj" fmla="val 3243"/>
            </a:avLst>
          </a:prstGeom>
          <a:solidFill>
            <a:schemeClr val="bg2"/>
          </a:solidFill>
          <a:ln/>
        </p:spPr>
      </p:sp>
      <p:sp>
        <p:nvSpPr>
          <p:cNvPr id="9" name="Shape 7"/>
          <p:cNvSpPr/>
          <p:nvPr/>
        </p:nvSpPr>
        <p:spPr>
          <a:xfrm>
            <a:off x="4937760" y="1371600"/>
            <a:ext cx="502920" cy="502920"/>
          </a:xfrm>
          <a:prstGeom prst="ellipse">
            <a:avLst/>
          </a:prstGeom>
          <a:solidFill>
            <a:schemeClr val="accent2"/>
          </a:solidFill>
          <a:ln/>
        </p:spPr>
      </p:sp>
      <p:sp>
        <p:nvSpPr>
          <p:cNvPr id="10" name="Text 8"/>
          <p:cNvSpPr txBox="1"/>
          <p:nvPr/>
        </p:nvSpPr>
        <p:spPr>
          <a:xfrm>
            <a:off x="493776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1" name="Text 9"/>
          <p:cNvSpPr txBox="1"/>
          <p:nvPr/>
        </p:nvSpPr>
        <p:spPr>
          <a:xfrm>
            <a:off x="557784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Adding a service</a:t>
            </a:r>
            <a:endParaRPr lang="en-US" sz="2000" dirty="0"/>
          </a:p>
        </p:txBody>
      </p:sp>
      <p:sp>
        <p:nvSpPr>
          <p:cNvPr id="12" name="Text 10"/>
          <p:cNvSpPr txBox="1"/>
          <p:nvPr/>
        </p:nvSpPr>
        <p:spPr>
          <a:xfrm>
            <a:off x="493776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Add its official MCP server to .mcp.json</a:t>
            </a:r>
            <a:endParaRPr lang="en-US" sz="1400" dirty="0"/>
          </a:p>
          <a:p>
            <a:pPr marL="342900" indent="-342900">
              <a:spcAft>
                <a:spcPts val="800"/>
              </a:spcAft>
              <a:buSzPct val="100000"/>
              <a:buChar char="•"/>
            </a:pPr>
            <a:r>
              <a:rPr lang="en-US" sz="1400" dirty="0">
                <a:solidFill>
                  <a:schemeClr val="tx2"/>
                </a:solidFill>
              </a:rPr>
              <a:t>Add a section to localStorageFormats.md</a:t>
            </a:r>
            <a:endParaRPr lang="en-US" sz="1400" dirty="0"/>
          </a:p>
          <a:p>
            <a:pPr marL="342900" indent="-342900">
              <a:spcAft>
                <a:spcPts val="800"/>
              </a:spcAft>
              <a:buSzPct val="100000"/>
              <a:buChar char="•"/>
            </a:pPr>
            <a:r>
              <a:rPr lang="en-US" sz="1400" dirty="0">
                <a:solidFill>
                  <a:schemeClr val="tx2"/>
                </a:solidFill>
              </a:rPr>
              <a:t>Add a download-&lt;service&gt; skill</a:t>
            </a:r>
            <a:endParaRPr lang="en-US" sz="1400" dirty="0"/>
          </a:p>
          <a:p>
            <a:pPr marL="342900" indent="-342900">
              <a:spcAft>
                <a:spcPts val="800"/>
              </a:spcAft>
              <a:buSzPct val="100000"/>
              <a:buChar char="•"/>
            </a:pPr>
            <a:r>
              <a:rPr lang="en-US" sz="1400" dirty="0">
                <a:solidFill>
                  <a:schemeClr val="tx2"/>
                </a:solidFill>
              </a:rPr>
              <a:t>Save with save_export.py; the dashboard picks it up</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Questions?</a:t>
            </a:r>
            <a:endParaRPr lang="en-US" sz="1800" dirty="0"/>
          </a:p>
          <a:p>
            <a:pPr indent="0" marL="0">
              <a:buNone/>
            </a:pPr>
            <a:r>
              <a:rPr lang="en-US" sz="1800" dirty="0">
                <a:solidFill>
                  <a:schemeClr val="accent4"/>
                </a:solidFill>
              </a:rPr>
              <a:t>github.com/nyohayon-jpg/hw-services-dashboard</a:t>
            </a:r>
            <a:endParaRPr lang="en-US" sz="1800" dirty="0"/>
          </a:p>
        </p:txBody>
      </p:sp>
    </p:spTree>
  </p:cSld>
  <p:clrMapOvr>
    <a:masterClrMapping/>
  </p:clrMapOvr>
</p:sld>
</file>

<file path=ppt/theme/theme1.xml><?xml version="1.0" encoding="utf-8"?>
<a:theme xmlns:a="http://schemas.openxmlformats.org/drawingml/2006/main" name="Apollo Teal">
  <a:themeElements>
    <a:clrScheme name="Apollo Teal">
      <a:dk1>
        <a:srgbClr val="1B2A3A"/>
      </a:dk1>
      <a:lt1>
        <a:srgbClr val="FFFFFF"/>
      </a:lt1>
      <a:dk2>
        <a:srgbClr val="3D4F61"/>
      </a:dk2>
      <a:lt2>
        <a:srgbClr val="EEF4F4"/>
      </a:lt2>
      <a:accent1>
        <a:srgbClr val="0F8B8D"/>
      </a:accent1>
      <a:accent2>
        <a:srgbClr val="F2A541"/>
      </a:accent2>
      <a:accent3>
        <a:srgbClr val="5B6C7D"/>
      </a:accent3>
      <a:accent4>
        <a:srgbClr val="A9D6D3"/>
      </a:accent4>
      <a:accent5>
        <a:srgbClr val="C8553D"/>
      </a:accent5>
      <a:accent6>
        <a:srgbClr val="7A9E7E"/>
      </a:accent6>
      <a:hlink>
        <a:srgbClr val="0F8B8D"/>
      </a:hlink>
      <a:folHlink>
        <a:srgbClr val="5B6C7D"/>
      </a:folHlink>
    </a:clrScheme>
    <a:fontScheme name="Apollo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Services Dashboard</dc:title>
  <dc:subject>PptxGenJS Presentation</dc:subject>
  <dc:creator>Nadav Ohayon</dc:creator>
  <cp:lastModifiedBy>Nadav Ohayon</cp:lastModifiedBy>
  <cp:revision>1</cp:revision>
  <dcterms:created xsi:type="dcterms:W3CDTF">2026-10-19T00:21:20Z</dcterms:created>
  <dcterms:modified xsi:type="dcterms:W3CDTF">2026-10-19T00:21:20Z</dcterms:modified>
</cp:coreProperties>
</file>